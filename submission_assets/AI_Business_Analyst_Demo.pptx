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F"/>
          </a:solidFill>
          <a:ln w="12700">
            <a:solidFill>
              <a:srgbClr val="0707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0584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00" b="1" dirty="0">
                <a:solidFill>
                  <a:srgbClr val="F8FAFC"/>
                </a:solidFill>
              </a:rPr>
              <a:t>AI Business Analyst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621792" y="1783080"/>
            <a:ext cx="685800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A6A6C8"/>
                </a:solidFill>
              </a:rPr>
              <a:t>End-to-end platform for business data analysis, AI insights, forecasting, anomaly detection, admin approvals, and PDF reporting.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926080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12122A"/>
          </a:solidFill>
          <a:ln w="12700">
            <a:solidFill>
              <a:srgbClr val="2A2A5A">
                <a:alpha val="9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3022092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Streamlit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06040" y="2926080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12122A"/>
          </a:solidFill>
          <a:ln w="12700">
            <a:solidFill>
              <a:srgbClr val="2A2A5A">
                <a:alpha val="9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15768" y="3022092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Python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0" y="2926080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12122A"/>
          </a:solidFill>
          <a:ln w="12700">
            <a:solidFill>
              <a:srgbClr val="2A2A5A">
                <a:alpha val="9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81728" y="3022092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Pandas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3429000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12122A"/>
          </a:solidFill>
          <a:ln w="12700">
            <a:solidFill>
              <a:srgbClr val="2A2A5A">
                <a:alpha val="9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525012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Plotly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606040" y="3429000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12122A"/>
          </a:solidFill>
          <a:ln w="12700">
            <a:solidFill>
              <a:srgbClr val="2A2A5A">
                <a:alpha val="92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15768" y="3525012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SQLite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0" y="3429000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12122A"/>
          </a:solidFill>
          <a:ln w="12700">
            <a:solidFill>
              <a:srgbClr val="2A2A5A">
                <a:alpha val="92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81728" y="3525012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OpenAI / Ollama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9600" y="914400"/>
            <a:ext cx="3017520" cy="1554480"/>
          </a:xfrm>
          <a:prstGeom prst="roundRect">
            <a:avLst>
              <a:gd name="adj" fmla="val 4706"/>
            </a:avLst>
          </a:prstGeom>
          <a:solidFill>
            <a:srgbClr val="12122A"/>
          </a:solidFill>
          <a:ln w="12700">
            <a:solidFill>
              <a:srgbClr val="2A2A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0" y="914400"/>
            <a:ext cx="54864" cy="1554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30768" y="1115568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Demo Credentials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30768" y="1481328"/>
            <a:ext cx="2633472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6A6C8"/>
                </a:solidFill>
              </a:rPr>
              <a:t>Admin: admin / admin123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6A6C8"/>
                </a:solidFill>
              </a:rPr>
              <a:t>User: demouser / user123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229600" y="2743200"/>
            <a:ext cx="3017520" cy="1554480"/>
          </a:xfrm>
          <a:prstGeom prst="roundRect">
            <a:avLst>
              <a:gd name="adj" fmla="val 4706"/>
            </a:avLst>
          </a:prstGeom>
          <a:solidFill>
            <a:srgbClr val="12122A"/>
          </a:solidFill>
          <a:ln w="12700">
            <a:solidFill>
              <a:srgbClr val="2A2A5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0" y="2743200"/>
            <a:ext cx="54864" cy="1554480"/>
          </a:xfrm>
          <a:prstGeom prst="rect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30768" y="2944368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Core Value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430768" y="3310128"/>
            <a:ext cx="2633472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6A6C8"/>
                </a:solidFill>
              </a:rPr>
              <a:t>Turns uploaded business data into decision-ready insights, governed by an admin workflow.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692640" y="647395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6A6C8"/>
                </a:solidFill>
              </a:rPr>
              <a:t>AI Business Analyst demo | 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F"/>
          </a:solidFill>
          <a:ln w="12700">
            <a:solidFill>
              <a:srgbClr val="0707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C6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078992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users need more than static charts.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85800" y="164592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12122A"/>
          </a:solidFill>
          <a:ln w="12700">
            <a:solidFill>
              <a:srgbClr val="2A2A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645920"/>
            <a:ext cx="54864" cy="1828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847088"/>
            <a:ext cx="2999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Manual Analysis Is Slow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86968" y="2212848"/>
            <a:ext cx="2999232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6A6C8"/>
                </a:solidFill>
              </a:rPr>
              <a:t>Teams spend time cleaning files, checking quality, building charts, and writing summaries.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34840" y="164592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12122A"/>
          </a:solidFill>
          <a:ln w="12700">
            <a:solidFill>
              <a:srgbClr val="2A2A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645920"/>
            <a:ext cx="54864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36008" y="1847088"/>
            <a:ext cx="2999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Data Quality Is Unclear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36008" y="2212848"/>
            <a:ext cx="2999232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6A6C8"/>
                </a:solidFill>
              </a:rPr>
              <a:t>Bad dates, missing values, duplicate rows, and messy headers reduce trust in analysis.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83880" y="164592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12122A"/>
          </a:solidFill>
          <a:ln w="12700">
            <a:solidFill>
              <a:srgbClr val="2A2A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83880" y="1645920"/>
            <a:ext cx="54864" cy="1828800"/>
          </a:xfrm>
          <a:prstGeom prst="rect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85048" y="1847088"/>
            <a:ext cx="2999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Governance Is Missing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85048" y="2212848"/>
            <a:ext cx="2999232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6A6C8"/>
                </a:solidFill>
              </a:rPr>
              <a:t>Most student dashboards skip user roles, approvals, audit logs, and admin monitoring.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417320" y="4160520"/>
            <a:ext cx="9326880" cy="1143000"/>
          </a:xfrm>
          <a:prstGeom prst="roundRect">
            <a:avLst>
              <a:gd name="adj" fmla="val 6400"/>
            </a:avLst>
          </a:prstGeom>
          <a:solidFill>
            <a:srgbClr val="12122A"/>
          </a:solidFill>
          <a:ln w="12700">
            <a:solidFill>
              <a:srgbClr val="2A2A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17320" y="4160520"/>
            <a:ext cx="54864" cy="1143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18488" y="4361688"/>
            <a:ext cx="8942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Solution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618488" y="4727448"/>
            <a:ext cx="8942832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6A6C8"/>
                </a:solidFill>
              </a:rPr>
              <a:t>A single AI-assisted workflow: upload, clean, score, visualize, chat, forecast, detect anomalies, report, and approve.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692640" y="647395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6A6C8"/>
                </a:solidFill>
              </a:rPr>
              <a:t>AI Business Analyst demo | 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F"/>
          </a:solidFill>
          <a:ln w="12700">
            <a:solidFill>
              <a:srgbClr val="0707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C6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 STACK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078992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project follows the recommended stack and stays lightweight.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234440" y="1417320"/>
            <a:ext cx="2743200" cy="438912"/>
          </a:xfrm>
          <a:prstGeom prst="rect">
            <a:avLst/>
          </a:prstGeom>
          <a:solidFill>
            <a:srgbClr val="12122A"/>
          </a:solidFill>
          <a:ln w="12700">
            <a:solidFill>
              <a:srgbClr val="2A2A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69080" y="1417320"/>
            <a:ext cx="6675120" cy="438912"/>
          </a:xfrm>
          <a:prstGeom prst="rect">
            <a:avLst/>
          </a:prstGeom>
          <a:solidFill>
            <a:srgbClr val="191933"/>
          </a:solidFill>
          <a:ln w="12700">
            <a:solidFill>
              <a:srgbClr val="2A2A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153619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Frontend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51960" y="1536192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6C8"/>
                </a:solidFill>
              </a:rPr>
              <a:t>Streamlit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234440" y="2039112"/>
            <a:ext cx="2743200" cy="438912"/>
          </a:xfrm>
          <a:prstGeom prst="rect">
            <a:avLst/>
          </a:prstGeom>
          <a:solidFill>
            <a:srgbClr val="12122A"/>
          </a:solidFill>
          <a:ln w="12700">
            <a:solidFill>
              <a:srgbClr val="2A2A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69080" y="2039112"/>
            <a:ext cx="6675120" cy="438912"/>
          </a:xfrm>
          <a:prstGeom prst="rect">
            <a:avLst/>
          </a:prstGeom>
          <a:solidFill>
            <a:srgbClr val="12122A"/>
          </a:solidFill>
          <a:ln w="12700">
            <a:solidFill>
              <a:srgbClr val="2A2A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17320" y="215798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Backend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51960" y="2157984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6C8"/>
                </a:solidFill>
              </a:rPr>
              <a:t>Python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234440" y="2660904"/>
            <a:ext cx="2743200" cy="438912"/>
          </a:xfrm>
          <a:prstGeom prst="rect">
            <a:avLst/>
          </a:prstGeom>
          <a:solidFill>
            <a:srgbClr val="12122A"/>
          </a:solidFill>
          <a:ln w="12700">
            <a:solidFill>
              <a:srgbClr val="2A2A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69080" y="2660904"/>
            <a:ext cx="6675120" cy="438912"/>
          </a:xfrm>
          <a:prstGeom prst="rect">
            <a:avLst/>
          </a:prstGeom>
          <a:solidFill>
            <a:srgbClr val="191933"/>
          </a:solidFill>
          <a:ln w="12700">
            <a:solidFill>
              <a:srgbClr val="2A2A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17320" y="277977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AI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51960" y="2779776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6C8"/>
                </a:solidFill>
              </a:rPr>
              <a:t>OpenAI, Gemini, Groq, Ollama-ready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234440" y="3282696"/>
            <a:ext cx="2743200" cy="438912"/>
          </a:xfrm>
          <a:prstGeom prst="rect">
            <a:avLst/>
          </a:prstGeom>
          <a:solidFill>
            <a:srgbClr val="12122A"/>
          </a:solidFill>
          <a:ln w="12700">
            <a:solidFill>
              <a:srgbClr val="2A2A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069080" y="3282696"/>
            <a:ext cx="6675120" cy="438912"/>
          </a:xfrm>
          <a:prstGeom prst="rect">
            <a:avLst/>
          </a:prstGeom>
          <a:solidFill>
            <a:srgbClr val="12122A"/>
          </a:solidFill>
          <a:ln w="12700">
            <a:solidFill>
              <a:srgbClr val="2A2A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17320" y="340156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Data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251960" y="340156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6C8"/>
                </a:solidFill>
              </a:rPr>
              <a:t>Pandas, NumPy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234440" y="3904488"/>
            <a:ext cx="2743200" cy="438912"/>
          </a:xfrm>
          <a:prstGeom prst="rect">
            <a:avLst/>
          </a:prstGeom>
          <a:solidFill>
            <a:srgbClr val="12122A"/>
          </a:solidFill>
          <a:ln w="12700">
            <a:solidFill>
              <a:srgbClr val="2A2A5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69080" y="3904488"/>
            <a:ext cx="6675120" cy="438912"/>
          </a:xfrm>
          <a:prstGeom prst="rect">
            <a:avLst/>
          </a:prstGeom>
          <a:solidFill>
            <a:srgbClr val="191933"/>
          </a:solidFill>
          <a:ln w="12700">
            <a:solidFill>
              <a:srgbClr val="2A2A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17320" y="402336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Charts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251960" y="4023360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6C8"/>
                </a:solidFill>
              </a:rPr>
              <a:t>Plotly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234440" y="4526280"/>
            <a:ext cx="2743200" cy="438912"/>
          </a:xfrm>
          <a:prstGeom prst="rect">
            <a:avLst/>
          </a:prstGeom>
          <a:solidFill>
            <a:srgbClr val="12122A"/>
          </a:solidFill>
          <a:ln w="12700">
            <a:solidFill>
              <a:srgbClr val="2A2A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069080" y="4526280"/>
            <a:ext cx="6675120" cy="438912"/>
          </a:xfrm>
          <a:prstGeom prst="rect">
            <a:avLst/>
          </a:prstGeom>
          <a:solidFill>
            <a:srgbClr val="12122A"/>
          </a:solidFill>
          <a:ln w="12700">
            <a:solidFill>
              <a:srgbClr val="2A2A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17320" y="46451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ML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251960" y="4645152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6C8"/>
                </a:solidFill>
              </a:rPr>
              <a:t>scikit-learn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234440" y="5148072"/>
            <a:ext cx="2743200" cy="438912"/>
          </a:xfrm>
          <a:prstGeom prst="rect">
            <a:avLst/>
          </a:prstGeom>
          <a:solidFill>
            <a:srgbClr val="12122A"/>
          </a:solidFill>
          <a:ln w="12700">
            <a:solidFill>
              <a:srgbClr val="2A2A5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69080" y="5148072"/>
            <a:ext cx="6675120" cy="438912"/>
          </a:xfrm>
          <a:prstGeom prst="rect">
            <a:avLst/>
          </a:prstGeom>
          <a:solidFill>
            <a:srgbClr val="191933"/>
          </a:solidFill>
          <a:ln w="12700">
            <a:solidFill>
              <a:srgbClr val="2A2A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17320" y="526694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Database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251960" y="5266944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6C8"/>
                </a:solidFill>
              </a:rPr>
              <a:t>SQLite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692640" y="647395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6A6C8"/>
                </a:solidFill>
              </a:rPr>
              <a:t>AI Business Analyst demo | 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F"/>
          </a:solidFill>
          <a:ln w="12700">
            <a:solidFill>
              <a:srgbClr val="0707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C6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WORKFLOW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078992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user side covers the full analytics journey.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3337560" cy="868680"/>
          </a:xfrm>
          <a:prstGeom prst="roundRect">
            <a:avLst>
              <a:gd name="adj" fmla="val 8421"/>
            </a:avLst>
          </a:prstGeom>
          <a:solidFill>
            <a:srgbClr val="12122A"/>
          </a:solidFill>
          <a:ln w="12700">
            <a:solidFill>
              <a:srgbClr val="2A2A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17320"/>
            <a:ext cx="54864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1618488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1. Login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04088" y="1984248"/>
            <a:ext cx="2953512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6A6C8"/>
                </a:solidFill>
              </a:rPr>
              <a:t>Business-ready workflow step.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0" y="1417320"/>
            <a:ext cx="3337560" cy="868680"/>
          </a:xfrm>
          <a:prstGeom prst="roundRect">
            <a:avLst>
              <a:gd name="adj" fmla="val 8421"/>
            </a:avLst>
          </a:prstGeom>
          <a:solidFill>
            <a:srgbClr val="12122A"/>
          </a:solidFill>
          <a:ln w="12700">
            <a:solidFill>
              <a:srgbClr val="2A2A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417320"/>
            <a:ext cx="54864" cy="868680"/>
          </a:xfrm>
          <a:prstGeom prst="rect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0288" y="1618488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2. Upload CSV/Excel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90288" y="1984248"/>
            <a:ext cx="2953512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6A6C8"/>
                </a:solidFill>
              </a:rPr>
              <a:t>Smart loader handles messy sheets.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75320" y="1417320"/>
            <a:ext cx="3337560" cy="868680"/>
          </a:xfrm>
          <a:prstGeom prst="roundRect">
            <a:avLst>
              <a:gd name="adj" fmla="val 8421"/>
            </a:avLst>
          </a:prstGeom>
          <a:solidFill>
            <a:srgbClr val="12122A"/>
          </a:solidFill>
          <a:ln w="12700">
            <a:solidFill>
              <a:srgbClr val="2A2A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1417320"/>
            <a:ext cx="54864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76488" y="1618488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3. Quality Score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76488" y="1984248"/>
            <a:ext cx="2953512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6A6C8"/>
                </a:solidFill>
              </a:rPr>
              <a:t>Missing, duplicate, date and numeric checks.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2651760"/>
            <a:ext cx="3337560" cy="868680"/>
          </a:xfrm>
          <a:prstGeom prst="roundRect">
            <a:avLst>
              <a:gd name="adj" fmla="val 8421"/>
            </a:avLst>
          </a:prstGeom>
          <a:solidFill>
            <a:srgbClr val="12122A"/>
          </a:solidFill>
          <a:ln w="12700">
            <a:solidFill>
              <a:srgbClr val="2A2A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2651760"/>
            <a:ext cx="54864" cy="868680"/>
          </a:xfrm>
          <a:prstGeom prst="rect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" y="2852928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4. Overview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04088" y="3218688"/>
            <a:ext cx="2953512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6A6C8"/>
                </a:solidFill>
              </a:rPr>
              <a:t>Business-ready workflow step.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389120" y="2651760"/>
            <a:ext cx="3337560" cy="868680"/>
          </a:xfrm>
          <a:prstGeom prst="roundRect">
            <a:avLst>
              <a:gd name="adj" fmla="val 8421"/>
            </a:avLst>
          </a:prstGeom>
          <a:solidFill>
            <a:srgbClr val="12122A"/>
          </a:solidFill>
          <a:ln w="12700">
            <a:solidFill>
              <a:srgbClr val="2A2A5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89120" y="2651760"/>
            <a:ext cx="54864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90288" y="2852928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5. Charts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90288" y="3218688"/>
            <a:ext cx="2953512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6A6C8"/>
                </a:solidFill>
              </a:rPr>
              <a:t>Business-ready workflow step.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275320" y="2651760"/>
            <a:ext cx="3337560" cy="868680"/>
          </a:xfrm>
          <a:prstGeom prst="roundRect">
            <a:avLst>
              <a:gd name="adj" fmla="val 8421"/>
            </a:avLst>
          </a:prstGeom>
          <a:solidFill>
            <a:srgbClr val="12122A"/>
          </a:solidFill>
          <a:ln w="12700">
            <a:solidFill>
              <a:srgbClr val="2A2A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75320" y="2651760"/>
            <a:ext cx="54864" cy="868680"/>
          </a:xfrm>
          <a:prstGeom prst="rect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76488" y="2852928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6. AI Chat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476488" y="3218688"/>
            <a:ext cx="2953512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6A6C8"/>
                </a:solidFill>
              </a:rPr>
              <a:t>Natural-language questions over data context.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2920" y="3886200"/>
            <a:ext cx="3337560" cy="868680"/>
          </a:xfrm>
          <a:prstGeom prst="roundRect">
            <a:avLst>
              <a:gd name="adj" fmla="val 8421"/>
            </a:avLst>
          </a:prstGeom>
          <a:solidFill>
            <a:srgbClr val="12122A"/>
          </a:solidFill>
          <a:ln w="12700">
            <a:solidFill>
              <a:srgbClr val="2A2A5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3886200"/>
            <a:ext cx="54864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4088" y="4087368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7. Forecast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04088" y="4453128"/>
            <a:ext cx="2953512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6A6C8"/>
                </a:solidFill>
              </a:rPr>
              <a:t>Business-ready workflow step.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389120" y="3886200"/>
            <a:ext cx="3337560" cy="868680"/>
          </a:xfrm>
          <a:prstGeom prst="roundRect">
            <a:avLst>
              <a:gd name="adj" fmla="val 8421"/>
            </a:avLst>
          </a:prstGeom>
          <a:solidFill>
            <a:srgbClr val="12122A"/>
          </a:solidFill>
          <a:ln w="12700">
            <a:solidFill>
              <a:srgbClr val="2A2A5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89120" y="3886200"/>
            <a:ext cx="54864" cy="868680"/>
          </a:xfrm>
          <a:prstGeom prst="rect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90288" y="4087368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8. Anomalies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4590288" y="4453128"/>
            <a:ext cx="2953512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6A6C8"/>
                </a:solidFill>
              </a:rPr>
              <a:t>Business-ready workflow step.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275320" y="3886200"/>
            <a:ext cx="3337560" cy="868680"/>
          </a:xfrm>
          <a:prstGeom prst="roundRect">
            <a:avLst>
              <a:gd name="adj" fmla="val 8421"/>
            </a:avLst>
          </a:prstGeom>
          <a:solidFill>
            <a:srgbClr val="12122A"/>
          </a:solidFill>
          <a:ln w="12700">
            <a:solidFill>
              <a:srgbClr val="2A2A5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75320" y="3886200"/>
            <a:ext cx="54864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76488" y="4087368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9. PDF Report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8476488" y="4453128"/>
            <a:ext cx="2953512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6A6C8"/>
                </a:solidFill>
              </a:rPr>
              <a:t>Executive report with AI-backed sections.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9692640" y="647395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6A6C8"/>
                </a:solidFill>
              </a:rPr>
              <a:t>AI Business Analyst demo | 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F"/>
          </a:solidFill>
          <a:ln w="12700">
            <a:solidFill>
              <a:srgbClr val="0707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C6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DEPTH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078992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Small details make the demo feel production-aware.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3474720" cy="1325880"/>
          </a:xfrm>
          <a:prstGeom prst="roundRect">
            <a:avLst>
              <a:gd name="adj" fmla="val 5517"/>
            </a:avLst>
          </a:prstGeom>
          <a:solidFill>
            <a:srgbClr val="12122A"/>
          </a:solidFill>
          <a:ln w="12700">
            <a:solidFill>
              <a:srgbClr val="2A2A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17320"/>
            <a:ext cx="54864" cy="1325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618488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Smart Parser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1248" y="1984248"/>
            <a:ext cx="309067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6A6C8"/>
                </a:solidFill>
              </a:rPr>
              <a:t>Auto header detection, blank row/column removal, horizontal matrix handling, currency/percent cleanup, date/FY parsing.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43400" y="1417320"/>
            <a:ext cx="3474720" cy="1325880"/>
          </a:xfrm>
          <a:prstGeom prst="roundRect">
            <a:avLst>
              <a:gd name="adj" fmla="val 5517"/>
            </a:avLst>
          </a:prstGeom>
          <a:solidFill>
            <a:srgbClr val="12122A"/>
          </a:solidFill>
          <a:ln w="12700">
            <a:solidFill>
              <a:srgbClr val="2A2A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1417320"/>
            <a:ext cx="54864" cy="1325880"/>
          </a:xfrm>
          <a:prstGeom prst="rect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44568" y="1618488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Quality Engine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44568" y="1984248"/>
            <a:ext cx="309067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6A6C8"/>
                </a:solidFill>
              </a:rPr>
              <a:t>Score out of 100 with Good, Needs Cleaning, or Risky grade plus issue list.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1417320"/>
            <a:ext cx="3474720" cy="1325880"/>
          </a:xfrm>
          <a:prstGeom prst="roundRect">
            <a:avLst>
              <a:gd name="adj" fmla="val 5517"/>
            </a:avLst>
          </a:prstGeom>
          <a:solidFill>
            <a:srgbClr val="12122A"/>
          </a:solidFill>
          <a:ln w="12700">
            <a:solidFill>
              <a:srgbClr val="2A2A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1417320"/>
            <a:ext cx="54864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47888" y="1618488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Safe Charts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47888" y="1984248"/>
            <a:ext cx="309067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6A6C8"/>
                </a:solidFill>
              </a:rPr>
              <a:t>Plotly charts with NumPy trendline to avoid statsmodels dependency issues.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3246120"/>
            <a:ext cx="3474720" cy="1325880"/>
          </a:xfrm>
          <a:prstGeom prst="roundRect">
            <a:avLst>
              <a:gd name="adj" fmla="val 5517"/>
            </a:avLst>
          </a:prstGeom>
          <a:solidFill>
            <a:srgbClr val="12122A"/>
          </a:solidFill>
          <a:ln w="12700">
            <a:solidFill>
              <a:srgbClr val="2A2A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246120"/>
            <a:ext cx="54864" cy="1325880"/>
          </a:xfrm>
          <a:prstGeom prst="rect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3447288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AI Context Control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1248" y="3813048"/>
            <a:ext cx="309067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6A6C8"/>
                </a:solidFill>
              </a:rPr>
              <a:t>AI receives dataset summary, columns, missing values, numeric stats, and sample rows instead of full raw data.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343400" y="3246120"/>
            <a:ext cx="3474720" cy="1325880"/>
          </a:xfrm>
          <a:prstGeom prst="roundRect">
            <a:avLst>
              <a:gd name="adj" fmla="val 5517"/>
            </a:avLst>
          </a:prstGeom>
          <a:solidFill>
            <a:srgbClr val="12122A"/>
          </a:solidFill>
          <a:ln w="12700">
            <a:solidFill>
              <a:srgbClr val="2A2A5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43400" y="3246120"/>
            <a:ext cx="54864" cy="1325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44568" y="3447288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Forecasting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44568" y="3813048"/>
            <a:ext cx="309067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6A6C8"/>
                </a:solidFill>
              </a:rPr>
              <a:t>Future projection with MAE, RMSE, and trend direction.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046720" y="3246120"/>
            <a:ext cx="3474720" cy="1325880"/>
          </a:xfrm>
          <a:prstGeom prst="roundRect">
            <a:avLst>
              <a:gd name="adj" fmla="val 5517"/>
            </a:avLst>
          </a:prstGeom>
          <a:solidFill>
            <a:srgbClr val="12122A"/>
          </a:solidFill>
          <a:ln w="12700">
            <a:solidFill>
              <a:srgbClr val="2A2A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46720" y="3246120"/>
            <a:ext cx="54864" cy="1325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47888" y="3447288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Anomaly Detection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247888" y="3813048"/>
            <a:ext cx="309067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6A6C8"/>
                </a:solidFill>
              </a:rPr>
              <a:t>Isolation Forest highlights unusual numeric business records.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692640" y="647395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6A6C8"/>
                </a:solidFill>
              </a:rPr>
              <a:t>AI Business Analyst demo | 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F"/>
          </a:solidFill>
          <a:ln w="12700">
            <a:solidFill>
              <a:srgbClr val="0707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C6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GOVERNANCE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078992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 panel turns the dashboard into a managed platform.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3474720" cy="1508760"/>
          </a:xfrm>
          <a:prstGeom prst="roundRect">
            <a:avLst>
              <a:gd name="adj" fmla="val 4848"/>
            </a:avLst>
          </a:prstGeom>
          <a:solidFill>
            <a:srgbClr val="12122A"/>
          </a:solidFill>
          <a:ln w="12700">
            <a:solidFill>
              <a:srgbClr val="2A2A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508760"/>
            <a:ext cx="54864" cy="1508760"/>
          </a:xfrm>
          <a:prstGeom prst="rect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709928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Identity &amp; Auth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86968" y="2075688"/>
            <a:ext cx="3090672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6A6C8"/>
                </a:solidFill>
              </a:rPr>
              <a:t>Create users, validate emails, check password strength, change roles, activate/deactivate, delete users.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70832" y="1508760"/>
            <a:ext cx="3474720" cy="1508760"/>
          </a:xfrm>
          <a:prstGeom prst="roundRect">
            <a:avLst>
              <a:gd name="adj" fmla="val 4848"/>
            </a:avLst>
          </a:prstGeom>
          <a:solidFill>
            <a:srgbClr val="12122A"/>
          </a:solidFill>
          <a:ln w="12700">
            <a:solidFill>
              <a:srgbClr val="2A2A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70832" y="1508760"/>
            <a:ext cx="54864" cy="1508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709928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Dataset Review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2075688"/>
            <a:ext cx="3090672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6A6C8"/>
                </a:solidFill>
              </a:rPr>
              <a:t>Every uploaded dataset starts pending; admin can preview, approve, reject, and add notes.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65008" y="1508760"/>
            <a:ext cx="3474720" cy="1508760"/>
          </a:xfrm>
          <a:prstGeom prst="roundRect">
            <a:avLst>
              <a:gd name="adj" fmla="val 4848"/>
            </a:avLst>
          </a:prstGeom>
          <a:solidFill>
            <a:srgbClr val="12122A"/>
          </a:solidFill>
          <a:ln w="12700">
            <a:solidFill>
              <a:srgbClr val="2A2A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65008" y="1508760"/>
            <a:ext cx="54864" cy="1508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66176" y="1709928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Report Review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66176" y="2075688"/>
            <a:ext cx="3090672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6A6C8"/>
                </a:solidFill>
              </a:rPr>
              <a:t>Reports have an approval queue so generated outputs can be governed.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828800" y="3931920"/>
            <a:ext cx="8549640" cy="1097280"/>
          </a:xfrm>
          <a:prstGeom prst="roundRect">
            <a:avLst>
              <a:gd name="adj" fmla="val 6667"/>
            </a:avLst>
          </a:prstGeom>
          <a:solidFill>
            <a:srgbClr val="12122A"/>
          </a:solidFill>
          <a:ln w="12700">
            <a:solidFill>
              <a:srgbClr val="2A2A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28800" y="3931920"/>
            <a:ext cx="54864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29968" y="4133088"/>
            <a:ext cx="8165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Audit &amp; Cost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029968" y="4498848"/>
            <a:ext cx="816559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6A6C8"/>
                </a:solidFill>
              </a:rPr>
              <a:t>Tracks login, upload, AI query, report and approval actions; shows estimated AI usage and top active user.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692640" y="647395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6A6C8"/>
                </a:solidFill>
              </a:rPr>
              <a:t>AI Business Analyst demo | 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F"/>
          </a:solidFill>
          <a:ln w="12700">
            <a:solidFill>
              <a:srgbClr val="0707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C6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078992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simple modular architecture keeps the system explainable.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9966960" cy="658368"/>
          </a:xfrm>
          <a:prstGeom prst="roundRect">
            <a:avLst>
              <a:gd name="adj" fmla="val 11111"/>
            </a:avLst>
          </a:prstGeom>
          <a:solidFill>
            <a:srgbClr val="12122A"/>
          </a:solidFill>
          <a:ln w="12700">
            <a:solidFill>
              <a:srgbClr val="2A2A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371600"/>
            <a:ext cx="54864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8448" y="1572768"/>
            <a:ext cx="9582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Streamlit UI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98448" y="1938528"/>
            <a:ext cx="9582912" cy="-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6A6C8"/>
                </a:solidFill>
              </a:rPr>
              <a:t>Login, dashboard, admin panel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0" y="2066544"/>
            <a:ext cx="411480" cy="256032"/>
          </a:xfrm>
          <a:prstGeom prst="downArrow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2377440"/>
            <a:ext cx="9966960" cy="658368"/>
          </a:xfrm>
          <a:prstGeom prst="roundRect">
            <a:avLst>
              <a:gd name="adj" fmla="val 11111"/>
            </a:avLst>
          </a:prstGeom>
          <a:solidFill>
            <a:srgbClr val="12122A"/>
          </a:solidFill>
          <a:ln w="12700">
            <a:solidFill>
              <a:srgbClr val="2A2A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" y="2377440"/>
            <a:ext cx="54864" cy="658368"/>
          </a:xfrm>
          <a:prstGeom prst="rect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2578608"/>
            <a:ext cx="9582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Utility Modules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98448" y="2944368"/>
            <a:ext cx="9582912" cy="-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6A6C8"/>
                </a:solidFill>
              </a:rPr>
              <a:t>Analyzer, visualizer, forecaster, AI agent, reports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0" y="3072384"/>
            <a:ext cx="411480" cy="256032"/>
          </a:xfrm>
          <a:prstGeom prst="downArrow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7280" y="3383280"/>
            <a:ext cx="9966960" cy="658368"/>
          </a:xfrm>
          <a:prstGeom prst="roundRect">
            <a:avLst>
              <a:gd name="adj" fmla="val 11111"/>
            </a:avLst>
          </a:prstGeom>
          <a:solidFill>
            <a:srgbClr val="12122A"/>
          </a:solidFill>
          <a:ln w="12700">
            <a:solidFill>
              <a:srgbClr val="2A2A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" y="3383280"/>
            <a:ext cx="54864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98448" y="3584448"/>
            <a:ext cx="9582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Data Layer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98448" y="3950208"/>
            <a:ext cx="9582912" cy="-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6A6C8"/>
                </a:solidFill>
              </a:rPr>
              <a:t>Pandas dataframes and SQLite records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0" y="4078224"/>
            <a:ext cx="411480" cy="256032"/>
          </a:xfrm>
          <a:prstGeom prst="downArrow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7280" y="4389120"/>
            <a:ext cx="9966960" cy="658368"/>
          </a:xfrm>
          <a:prstGeom prst="roundRect">
            <a:avLst>
              <a:gd name="adj" fmla="val 11111"/>
            </a:avLst>
          </a:prstGeom>
          <a:solidFill>
            <a:srgbClr val="12122A"/>
          </a:solidFill>
          <a:ln w="12700">
            <a:solidFill>
              <a:srgbClr val="2A2A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97280" y="4389120"/>
            <a:ext cx="54864" cy="658368"/>
          </a:xfrm>
          <a:prstGeom prst="rect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98448" y="4590288"/>
            <a:ext cx="9582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AI Providers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98448" y="4956048"/>
            <a:ext cx="9582912" cy="-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6A6C8"/>
                </a:solidFill>
              </a:rPr>
              <a:t>OpenAI / Gemini / Groq / Ollama endpoint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692640" y="647395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6A6C8"/>
                </a:solidFill>
              </a:rPr>
              <a:t>AI Business Analyst demo | 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F"/>
          </a:solidFill>
          <a:ln w="12700">
            <a:solidFill>
              <a:srgbClr val="0707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C6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078992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Submission package is ready for GitHub and Streamlit Cloud.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3337560" cy="1463040"/>
          </a:xfrm>
          <a:prstGeom prst="roundRect">
            <a:avLst>
              <a:gd name="adj" fmla="val 5000"/>
            </a:avLst>
          </a:prstGeom>
          <a:solidFill>
            <a:srgbClr val="12122A"/>
          </a:solidFill>
          <a:ln w="12700">
            <a:solidFill>
              <a:srgbClr val="2A2A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417320"/>
            <a:ext cx="54864" cy="1463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618488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GitHub Repo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78408" y="1984248"/>
            <a:ext cx="2953512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6A6C8"/>
                </a:solidFill>
              </a:rPr>
              <a:t>README, deployment guide, demo script, requirements, config, and gitignore are prepared.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34840" y="1417320"/>
            <a:ext cx="3337560" cy="1463040"/>
          </a:xfrm>
          <a:prstGeom prst="roundRect">
            <a:avLst>
              <a:gd name="adj" fmla="val 5000"/>
            </a:avLst>
          </a:prstGeom>
          <a:solidFill>
            <a:srgbClr val="12122A"/>
          </a:solidFill>
          <a:ln w="12700">
            <a:solidFill>
              <a:srgbClr val="2A2A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417320"/>
            <a:ext cx="54864" cy="1463040"/>
          </a:xfrm>
          <a:prstGeom prst="rect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36008" y="1618488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Working Demo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36008" y="1984248"/>
            <a:ext cx="2953512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6A6C8"/>
                </a:solidFill>
              </a:rPr>
              <a:t>Run locally with streamlit run app.py, then deploy on Streamlit Community Cloud.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92440" y="1417320"/>
            <a:ext cx="3337560" cy="1463040"/>
          </a:xfrm>
          <a:prstGeom prst="roundRect">
            <a:avLst>
              <a:gd name="adj" fmla="val 5000"/>
            </a:avLst>
          </a:prstGeom>
          <a:solidFill>
            <a:srgbClr val="12122A"/>
          </a:solidFill>
          <a:ln w="12700">
            <a:solidFill>
              <a:srgbClr val="2A2A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92440" y="1417320"/>
            <a:ext cx="54864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93608" y="1618488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Documentation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93608" y="1984248"/>
            <a:ext cx="2953512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6A6C8"/>
                </a:solidFill>
              </a:rPr>
              <a:t>README.md, DEPLOYMENT.md, and DEMO_SCRIPT.md explain setup, features, and demo flow.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371600" y="3794760"/>
            <a:ext cx="9418320" cy="1143000"/>
          </a:xfrm>
          <a:prstGeom prst="roundRect">
            <a:avLst>
              <a:gd name="adj" fmla="val 6400"/>
            </a:avLst>
          </a:prstGeom>
          <a:solidFill>
            <a:srgbClr val="12122A"/>
          </a:solidFill>
          <a:ln w="12700">
            <a:solidFill>
              <a:srgbClr val="2A2A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71600" y="3794760"/>
            <a:ext cx="54864" cy="1143000"/>
          </a:xfrm>
          <a:prstGeom prst="rect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72768" y="3995928"/>
            <a:ext cx="9034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Next Production Upgrades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72768" y="4361688"/>
            <a:ext cx="9034272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6A6C8"/>
                </a:solidFill>
              </a:rPr>
              <a:t>Email/SMS OTP, cloud database, object storage, environment secrets, and LangChain/CrewAI orchestration.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692640" y="647395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6A6C8"/>
                </a:solidFill>
              </a:rPr>
              <a:t>AI Business Analyst demo | 8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AI Business Analyst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Business Analyst Demo</dc:title>
  <dc:subject>AI-powered analytics demo</dc:subject>
  <dc:creator>AI Business Analyst</dc:creator>
  <cp:lastModifiedBy>AI Business Analyst</cp:lastModifiedBy>
  <cp:revision>1</cp:revision>
  <dcterms:created xsi:type="dcterms:W3CDTF">2026-05-23T08:06:56Z</dcterms:created>
  <dcterms:modified xsi:type="dcterms:W3CDTF">2026-05-23T08:06:56Z</dcterms:modified>
</cp:coreProperties>
</file>